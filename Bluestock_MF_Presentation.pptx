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5B3FA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03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D8C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BLUESTOCK FINTECH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 Fund Analytics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8C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 Presentation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4B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Janna Haleema  |  Remote Data Analytics Intern  |  August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Objective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394960" cy="4480560"/>
          </a:xfrm>
          <a:prstGeom prst="rect">
            <a:avLst/>
          </a:prstGeom>
          <a:solidFill>
            <a:srgbClr val="F2F0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194560"/>
            <a:ext cx="466344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Bluestock Fintech needed a clear, data-driven view of the mutual fund industry — spanning 40 AMFI-registered schemes — to understand AUM trends, SIP growth, investor behavior, and fund performance, without a structured analytics pipeline or dashboard in place.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17920" y="1554480"/>
            <a:ext cx="5394960" cy="4480560"/>
          </a:xfrm>
          <a:prstGeom prst="rect">
            <a:avLst/>
          </a:prstGeom>
          <a:solidFill>
            <a:srgbClr val="F2F0F7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78308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Objective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0" y="2194560"/>
            <a:ext cx="466344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reliable ETL pipeline from raw AMFI data to a clean, queryable database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fund performance using CAGR, Sharpe/Sortino, Alpha/Beta, and Drawdown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 interactive Power BI dashboard for AUM, SIP, and investor analytics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reusable, documented code and a professional final report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Bluestock Fintech — Mutual Fund Analytics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AMFI-format CSV files, ~87,000+ rows, Jan 2022 – May 2026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297680"/>
        </p:xfrm>
        <a:graphic>
          <a:graphicData uri="http://schemas.openxmlformats.org/drawingml/2006/table">
            <a:tbl>
              <a:tblPr/>
              <a:tblGrid>
                <a:gridCol w="3840480"/>
                <a:gridCol w="585216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A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A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A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01_fund_master.csv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 metadata — house, category, plan, expense ratio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02_nav_history.csv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NAV per scheme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~46,000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03_aum_by_fund_house.csv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Quarterly AUM by fund house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04_monthly_sip_inflows.csv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Industry-wide monthly SIP inflow trends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07_scheme_performance.csv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Returns, risk ratios, expense ratio per scheme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08_investor_transactions.csv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investor transaction records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~32,800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10_benchmark_indices.csv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Nifty50 / Nifty100 index values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807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3 more source files and live NAV data from the mfapi.in public API for 6 benchmark schemes.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Bluestock Fintech — Mutual Fund Analytics Capstone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Architecture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2194560"/>
            <a:ext cx="2011680" cy="2103120"/>
          </a:xfrm>
          <a:prstGeom prst="roundRect">
            <a:avLst>
              <a:gd name="adj" fmla="val 3636"/>
            </a:avLst>
          </a:prstGeom>
          <a:solidFill>
            <a:srgbClr val="F2F0F7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3317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Ingest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18288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10 raw CSVs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AMFI codes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40/40 matched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587752" y="3246120"/>
            <a:ext cx="173736" cy="0"/>
          </a:xfrm>
          <a:prstGeom prst="line">
            <a:avLst/>
          </a:prstGeom>
          <a:noFill/>
          <a:ln w="19050">
            <a:solidFill>
              <a:srgbClr val="5B3FA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788920" y="2194560"/>
            <a:ext cx="2011680" cy="2103120"/>
          </a:xfrm>
          <a:prstGeom prst="roundRect">
            <a:avLst>
              <a:gd name="adj" fmla="val 3636"/>
            </a:avLst>
          </a:prstGeom>
          <a:solidFill>
            <a:srgbClr val="F2F0F7"/>
          </a:solidFill>
          <a:ln/>
        </p:spPr>
      </p:sp>
      <p:sp>
        <p:nvSpPr>
          <p:cNvPr id="8" name="Text 6"/>
          <p:cNvSpPr/>
          <p:nvPr/>
        </p:nvSpPr>
        <p:spPr>
          <a:xfrm>
            <a:off x="2880360" y="23317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Clean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880360" y="2743200"/>
            <a:ext cx="18288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Forward-fill NAV gaps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text fields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ranges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28032" y="3246120"/>
            <a:ext cx="173736" cy="0"/>
          </a:xfrm>
          <a:prstGeom prst="line">
            <a:avLst/>
          </a:prstGeom>
          <a:noFill/>
          <a:ln w="19050">
            <a:solidFill>
              <a:srgbClr val="5B3FA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029200" y="2194560"/>
            <a:ext cx="2011680" cy="2103120"/>
          </a:xfrm>
          <a:prstGeom prst="roundRect">
            <a:avLst>
              <a:gd name="adj" fmla="val 3636"/>
            </a:avLst>
          </a:prstGeom>
          <a:solidFill>
            <a:srgbClr val="F2F0F7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317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Build DB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0" y="2743200"/>
            <a:ext cx="18288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star schema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dim + 4 fact tables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bluestock_mf.db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68312" y="3246120"/>
            <a:ext cx="173736" cy="0"/>
          </a:xfrm>
          <a:prstGeom prst="line">
            <a:avLst/>
          </a:prstGeom>
          <a:noFill/>
          <a:ln w="19050">
            <a:solidFill>
              <a:srgbClr val="5B3FA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69480" y="2194560"/>
            <a:ext cx="2011680" cy="2103120"/>
          </a:xfrm>
          <a:prstGeom prst="roundRect">
            <a:avLst>
              <a:gd name="adj" fmla="val 3636"/>
            </a:avLst>
          </a:prstGeom>
          <a:solidFill>
            <a:srgbClr val="F2F0F7"/>
          </a:solidFill>
          <a:ln/>
        </p:spPr>
      </p:sp>
      <p:sp>
        <p:nvSpPr>
          <p:cNvPr id="16" name="Text 14"/>
          <p:cNvSpPr/>
          <p:nvPr/>
        </p:nvSpPr>
        <p:spPr>
          <a:xfrm>
            <a:off x="7360920" y="23317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Analyze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360920" y="2743200"/>
            <a:ext cx="18288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SQL queries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notebook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metrics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308592" y="3246120"/>
            <a:ext cx="173736" cy="0"/>
          </a:xfrm>
          <a:prstGeom prst="line">
            <a:avLst/>
          </a:prstGeom>
          <a:noFill/>
          <a:ln w="19050">
            <a:solidFill>
              <a:srgbClr val="5B3FA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509760" y="2194560"/>
            <a:ext cx="2011680" cy="2103120"/>
          </a:xfrm>
          <a:prstGeom prst="roundRect">
            <a:avLst>
              <a:gd name="adj" fmla="val 3636"/>
            </a:avLst>
          </a:prstGeom>
          <a:solidFill>
            <a:srgbClr val="F2F0F7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0" y="23317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Visualize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601200" y="2743200"/>
            <a:ext cx="18288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dashboard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pages + drill-through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Slicers &amp; tooltips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46634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Orchestrated end-to-end by a single master script: Scripts/run_pipeline.py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5303520"/>
            <a:ext cx="11064240" cy="1051560"/>
          </a:xfrm>
          <a:prstGeom prst="rect">
            <a:avLst/>
          </a:prstGeom>
          <a:solidFill>
            <a:srgbClr val="F2F0F7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53212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Schema:  dim_fund (40 rows) · dim_date (1,608 rows)  →  fact_nav (64,320) · fact_transactions (32,778) · fact_performance (40) · fact_aum (90)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Bluestock Fintech — Mutual Fund Analytics Capstone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Highlight: Retail Participation Growth</a:t>
            </a:r>
            <a:endParaRPr lang="en-US" sz="3000" dirty="0"/>
          </a:p>
        </p:txBody>
      </p:sp>
      <p:pic>
        <p:nvPicPr>
          <p:cNvPr id="3" name="Image 0" descr="/home/claude/pptx_build/images/03_sip_inflow_tr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5577840" cy="2788920"/>
          </a:xfrm>
          <a:prstGeom prst="rect">
            <a:avLst/>
          </a:prstGeom>
        </p:spPr>
      </p:pic>
      <p:pic>
        <p:nvPicPr>
          <p:cNvPr id="4" name="Image 1" descr="/home/claude/pptx_build/images/07_folio_grow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54480"/>
            <a:ext cx="5577840" cy="27889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4526280"/>
            <a:ext cx="11292840" cy="1737360"/>
          </a:xfrm>
          <a:prstGeom prst="rect">
            <a:avLst/>
          </a:prstGeom>
          <a:solidFill>
            <a:srgbClr val="F2F0F7"/>
          </a:solidFill>
          <a:ln/>
        </p:spPr>
      </p:sp>
      <p:sp>
        <p:nvSpPr>
          <p:cNvPr id="6" name="Text 2"/>
          <p:cNvSpPr/>
          <p:nvPr/>
        </p:nvSpPr>
        <p:spPr>
          <a:xfrm>
            <a:off x="777240" y="4663440"/>
            <a:ext cx="106984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SIP inflows grew from ~₹11,500 Cr (Jan 2022) to an all-time high of ₹31,002 Cr (Dec 2025) — a 2.7x increase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investor folios nearly doubled, from 13.26 Cr to 26.12 Cr, crossing 20 Cr in late 2024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metrics show the same inflection point around 2023 — new folios and rising SIP contributions move together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Bluestock Fintech — Mutual Fund Analytics Capstone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Highlight: Industry Growth &amp; Investor Profile</a:t>
            </a:r>
            <a:endParaRPr lang="en-US" sz="3000" dirty="0"/>
          </a:p>
        </p:txBody>
      </p:sp>
      <p:pic>
        <p:nvPicPr>
          <p:cNvPr id="3" name="Image 0" descr="/home/claude/pptx_build/images/02_aum_grow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6400800" cy="3154680"/>
          </a:xfrm>
          <a:prstGeom prst="rect">
            <a:avLst/>
          </a:prstGeom>
        </p:spPr>
      </p:pic>
      <p:pic>
        <p:nvPicPr>
          <p:cNvPr id="4" name="Image 1" descr="/home/claude/pptx_build/images/05_investor_demographi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783080"/>
            <a:ext cx="4709160" cy="14813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040880" y="3383280"/>
            <a:ext cx="4709160" cy="1325880"/>
          </a:xfrm>
          <a:prstGeom prst="rect">
            <a:avLst/>
          </a:prstGeom>
          <a:solidFill>
            <a:srgbClr val="F2F0F7"/>
          </a:solidFill>
          <a:ln/>
        </p:spPr>
      </p:sp>
      <p:sp>
        <p:nvSpPr>
          <p:cNvPr id="6" name="Text 2"/>
          <p:cNvSpPr/>
          <p:nvPr/>
        </p:nvSpPr>
        <p:spPr>
          <a:xfrm>
            <a:off x="7269480" y="3520440"/>
            <a:ext cx="42519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26–35 age group leads at 41.1% of investors. Gender split is 66.5% male vs. 33.5% female — a target area for financial inclusion outreach.</a:t>
            </a:r>
            <a:endParaRPr lang="en-US" sz="1250" dirty="0"/>
          </a:p>
        </p:txBody>
      </p:sp>
      <p:sp>
        <p:nvSpPr>
          <p:cNvPr id="7" name="Shape 3"/>
          <p:cNvSpPr/>
          <p:nvPr/>
        </p:nvSpPr>
        <p:spPr>
          <a:xfrm>
            <a:off x="457200" y="4892040"/>
            <a:ext cx="11292840" cy="1371600"/>
          </a:xfrm>
          <a:prstGeom prst="rect">
            <a:avLst/>
          </a:prstGeom>
          <a:solidFill>
            <a:srgbClr val="F2F0F7"/>
          </a:solidFill>
          <a:ln/>
        </p:spPr>
      </p:sp>
      <p:sp>
        <p:nvSpPr>
          <p:cNvPr id="8" name="Text 4"/>
          <p:cNvSpPr/>
          <p:nvPr/>
        </p:nvSpPr>
        <p:spPr>
          <a:xfrm>
            <a:off x="777240" y="5029200"/>
            <a:ext cx="10652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SBI Mutual Fund leads industry AUM at ₹12.5L Cr (2025), nearly double its 2022 level. Growth is broad-based across all top 10 fund houses, not concentrated in a single player.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Bluestock Fintech — Mutual Fund Analytics Capstone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Metrics: Fund Scorecard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283464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  <a:gridCol w="1280160"/>
                <a:gridCol w="1280160"/>
                <a:gridCol w="1280160"/>
                <a:gridCol w="137160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Alpha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Expense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Drawdown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A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Mirae Asset Large Cap — Regular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3F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ICICI Pru Midcap — Regular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3F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Kotak Flexicap — Regular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3F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HDFC Mid-Cap Opportunities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3F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ICICI Pru Bluechip — Direct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3F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709160"/>
            <a:ext cx="11064240" cy="1508760"/>
          </a:xfrm>
          <a:prstGeom prst="rect">
            <a:avLst/>
          </a:prstGeom>
          <a:solidFill>
            <a:srgbClr val="F2F0F7"/>
          </a:solidFill>
          <a:ln/>
        </p:spPr>
      </p:sp>
      <p:sp>
        <p:nvSpPr>
          <p:cNvPr id="5" name="Text 2"/>
          <p:cNvSpPr/>
          <p:nvPr/>
        </p:nvSpPr>
        <p:spPr>
          <a:xfrm>
            <a:off x="868680" y="4864608"/>
            <a:ext cx="10424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Mirae Asset Large Cap Fund tops the scorecard with a near-perfect Sharpe score (100/100) and strong return score (97.5/100), delivering consistent, risk-adjusted outperformance rather than just high raw returns.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Bluestock Fintech — Mutual Fund Analytics Capstone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Metrics: Beating the Benchmark</a:t>
            </a:r>
            <a:endParaRPr lang="en-US" sz="3000" dirty="0"/>
          </a:p>
        </p:txBody>
      </p:sp>
      <p:pic>
        <p:nvPicPr>
          <p:cNvPr id="3" name="Image 0" descr="/home/claude/pptx_build/images/benchmark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508760"/>
            <a:ext cx="9601200" cy="4800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Bluestock Fintech — Mutual Fund Analytics Capstone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Dashboard: Industry Overview &amp; Fund Performance</a:t>
            </a:r>
            <a:endParaRPr lang="en-US" sz="3000" dirty="0"/>
          </a:p>
        </p:txBody>
      </p:sp>
      <p:pic>
        <p:nvPicPr>
          <p:cNvPr id="3" name="Image 0" descr="/home/claude/pptx_build/images/page1_industry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554480"/>
            <a:ext cx="5806440" cy="3566160"/>
          </a:xfrm>
          <a:prstGeom prst="rect">
            <a:avLst/>
          </a:prstGeom>
        </p:spPr>
      </p:pic>
      <p:pic>
        <p:nvPicPr>
          <p:cNvPr id="4" name="Image 1" descr="/home/claude/pptx_build/images/page2_fund_perform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54480"/>
            <a:ext cx="5440680" cy="35661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365760" y="5257800"/>
            <a:ext cx="11384280" cy="1051560"/>
          </a:xfrm>
          <a:prstGeom prst="rect">
            <a:avLst/>
          </a:prstGeom>
          <a:solidFill>
            <a:srgbClr val="F2F0F7"/>
          </a:solidFill>
          <a:ln/>
        </p:spPr>
      </p:sp>
      <p:sp>
        <p:nvSpPr>
          <p:cNvPr id="6" name="Text 2"/>
          <p:cNvSpPr/>
          <p:nvPr/>
        </p:nvSpPr>
        <p:spPr>
          <a:xfrm>
            <a:off x="685800" y="5394960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4-page interactive Power BI dashboard with KPI cards, AUM trends, a return-vs-risk scatter plot, and a sortable fund scorecard — plus drill-through to per-fund NAV detail.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Bluestock Fintech — Mutual Fund Analytics Capstone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Dashboard: Investor Analytics &amp; SIP Trends</a:t>
            </a:r>
            <a:endParaRPr lang="en-US" sz="3000" dirty="0"/>
          </a:p>
        </p:txBody>
      </p:sp>
      <p:pic>
        <p:nvPicPr>
          <p:cNvPr id="3" name="Image 0" descr="/home/claude/pptx_build/images/page3_investor_analy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554480"/>
            <a:ext cx="5806440" cy="3566160"/>
          </a:xfrm>
          <a:prstGeom prst="rect">
            <a:avLst/>
          </a:prstGeom>
        </p:spPr>
      </p:pic>
      <p:pic>
        <p:nvPicPr>
          <p:cNvPr id="4" name="Image 1" descr="/home/claude/pptx_build/images/page4_sip_market_tre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54480"/>
            <a:ext cx="5440680" cy="35661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365760" y="5257800"/>
            <a:ext cx="11384280" cy="1051560"/>
          </a:xfrm>
          <a:prstGeom prst="rect">
            <a:avLst/>
          </a:prstGeom>
          <a:solidFill>
            <a:srgbClr val="F2F0F7"/>
          </a:solidFill>
          <a:ln/>
        </p:spPr>
      </p:sp>
      <p:sp>
        <p:nvSpPr>
          <p:cNvPr id="6" name="Text 2"/>
          <p:cNvSpPr/>
          <p:nvPr/>
        </p:nvSpPr>
        <p:spPr>
          <a:xfrm>
            <a:off x="685800" y="5394960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behavior by state, age, and transaction type — plus SIP inflow vs. Nifty50 trends and a category inflow heatmap, all filterable via slicers.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Bluestock Fintech — Mutual Fund Analytics Capstone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440680" cy="1371600"/>
          </a:xfrm>
          <a:prstGeom prst="rect">
            <a:avLst/>
          </a:prstGeom>
          <a:solidFill>
            <a:srgbClr val="F2F0F7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5B3FA0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17320" y="1764792"/>
            <a:ext cx="4343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SBI Mutual Fund leads AUM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417320" y="2286000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₹12.5L Cr, nearly double its 2022 level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1600200"/>
            <a:ext cx="5440680" cy="1371600"/>
          </a:xfrm>
          <a:prstGeom prst="rect">
            <a:avLst/>
          </a:prstGeom>
          <a:solidFill>
            <a:srgbClr val="F2F0F7"/>
          </a:solidFill>
          <a:ln/>
        </p:spPr>
      </p:sp>
      <p:sp>
        <p:nvSpPr>
          <p:cNvPr id="9" name="Shape 7"/>
          <p:cNvSpPr/>
          <p:nvPr/>
        </p:nvSpPr>
        <p:spPr>
          <a:xfrm>
            <a:off x="6537960" y="1828800"/>
            <a:ext cx="502920" cy="502920"/>
          </a:xfrm>
          <a:prstGeom prst="ellipse">
            <a:avLst/>
          </a:prstGeom>
          <a:solidFill>
            <a:srgbClr val="5B3FA0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178040" y="1764792"/>
            <a:ext cx="4343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 inflows hit an all-time high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178040" y="2286000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₹31,002 Cr in Dec 2025, up 2.7x since 2022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5440680" cy="1371600"/>
          </a:xfrm>
          <a:prstGeom prst="rect">
            <a:avLst/>
          </a:prstGeom>
          <a:solidFill>
            <a:srgbClr val="F2F0F7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3429000"/>
            <a:ext cx="502920" cy="502920"/>
          </a:xfrm>
          <a:prstGeom prst="ellipse">
            <a:avLst/>
          </a:prstGeom>
          <a:solidFill>
            <a:srgbClr val="5B3FA0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429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17320" y="3364992"/>
            <a:ext cx="4343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Mirae Asset Large Cap tops the scorecard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417320" y="3886200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Score 86.25/100 — best Sharpe + return combo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3200400"/>
            <a:ext cx="5440680" cy="1371600"/>
          </a:xfrm>
          <a:prstGeom prst="rect">
            <a:avLst/>
          </a:prstGeom>
          <a:solidFill>
            <a:srgbClr val="F2F0F7"/>
          </a:solidFill>
          <a:ln/>
        </p:spPr>
      </p:sp>
      <p:sp>
        <p:nvSpPr>
          <p:cNvPr id="19" name="Shape 17"/>
          <p:cNvSpPr/>
          <p:nvPr/>
        </p:nvSpPr>
        <p:spPr>
          <a:xfrm>
            <a:off x="6537960" y="3429000"/>
            <a:ext cx="502920" cy="502920"/>
          </a:xfrm>
          <a:prstGeom prst="ellipse">
            <a:avLst/>
          </a:prstGeom>
          <a:solidFill>
            <a:srgbClr val="5B3FA0"/>
          </a:solidFill>
          <a:ln/>
        </p:spPr>
      </p:sp>
      <p:sp>
        <p:nvSpPr>
          <p:cNvPr id="20" name="Text 18"/>
          <p:cNvSpPr/>
          <p:nvPr/>
        </p:nvSpPr>
        <p:spPr>
          <a:xfrm>
            <a:off x="6537960" y="3429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178040" y="3364992"/>
            <a:ext cx="4343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 funds win on risk-adjusted return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178040" y="3886200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ratios 5.1–7.7 vs. Small Cap's raw 20–23% returns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800600"/>
            <a:ext cx="5440680" cy="1371600"/>
          </a:xfrm>
          <a:prstGeom prst="rect">
            <a:avLst/>
          </a:prstGeom>
          <a:solidFill>
            <a:srgbClr val="F2F0F7"/>
          </a:solidFill>
          <a:ln/>
        </p:spPr>
      </p:sp>
      <p:sp>
        <p:nvSpPr>
          <p:cNvPr id="24" name="Shape 22"/>
          <p:cNvSpPr/>
          <p:nvPr/>
        </p:nvSpPr>
        <p:spPr>
          <a:xfrm>
            <a:off x="777240" y="5029200"/>
            <a:ext cx="502920" cy="502920"/>
          </a:xfrm>
          <a:prstGeom prst="ellipse">
            <a:avLst/>
          </a:prstGeom>
          <a:solidFill>
            <a:srgbClr val="5B3FA0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029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417320" y="4965192"/>
            <a:ext cx="4343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Folios doubled to 26.12 Cr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417320" y="5486400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Crossed the 20 Cr milestone in late 2024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309360" y="4800600"/>
            <a:ext cx="5440680" cy="1371600"/>
          </a:xfrm>
          <a:prstGeom prst="rect">
            <a:avLst/>
          </a:prstGeom>
          <a:solidFill>
            <a:srgbClr val="F2F0F7"/>
          </a:solidFill>
          <a:ln/>
        </p:spPr>
      </p:sp>
      <p:sp>
        <p:nvSpPr>
          <p:cNvPr id="29" name="Shape 27"/>
          <p:cNvSpPr/>
          <p:nvPr/>
        </p:nvSpPr>
        <p:spPr>
          <a:xfrm>
            <a:off x="6537960" y="5029200"/>
            <a:ext cx="502920" cy="502920"/>
          </a:xfrm>
          <a:prstGeom prst="ellipse">
            <a:avLst/>
          </a:prstGeom>
          <a:solidFill>
            <a:srgbClr val="5B3FA0"/>
          </a:solidFill>
          <a:ln/>
        </p:spPr>
      </p:sp>
      <p:sp>
        <p:nvSpPr>
          <p:cNvPr id="30" name="Text 28"/>
          <p:cNvSpPr/>
          <p:nvPr/>
        </p:nvSpPr>
        <p:spPr>
          <a:xfrm>
            <a:off x="6537960" y="5029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178040" y="4965192"/>
            <a:ext cx="4343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 gap in SIP participation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7178040" y="5486400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66.5% male vs. 33.5% female investors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Bluestock Fintech — Mutual Fund Analytics Capstone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5B3FA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6517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36576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8C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55778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Janna Haleema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4B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github.com/haleemajanna/capstone-mutual-fund-analytics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2026-08-15T15:23:08Z</dcterms:created>
  <dcterms:modified xsi:type="dcterms:W3CDTF">2026-08-15T15:23:08Z</dcterms:modified>
</cp:coreProperties>
</file>