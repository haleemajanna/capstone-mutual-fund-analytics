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  <p:sldId id="267" r:id="rId14"/>
  </p:sldIdLst>
  <p:sldSz cx="12161838" cy="6858000"/>
  <p:notesSz cx="6858000" cy="121618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9327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5B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D8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8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Presentation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C4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Haleema Janna |  Remote Data Analytics Intern  | 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4480560"/>
          </a:xfrm>
          <a:prstGeom prst="rect">
            <a:avLst/>
          </a:prstGeom>
          <a:solidFill>
            <a:srgbClr val="F2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needed a clear, data-driven view of the mutual fund industry — spanning 40 AMFI-registered schemes — to understand AUM trends, SIP growth, investor behavior, and fund performance, without a structured analytics pipeline or dashboard in place.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394960" cy="4480560"/>
          </a:xfrm>
          <a:prstGeom prst="rect">
            <a:avLst/>
          </a:prstGeom>
          <a:solidFill>
            <a:srgbClr val="F2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0" y="1783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0" y="219456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reliable ETL pipeline from raw AMFI data to a clean, queryable database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fund performance using CAGR, Sharpe/Sortino, Alpha/Beta, and Drawdown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interactive Power BI dashboard for AUM, SIP, and investor analytics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reusable, documented code and a professional final report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AMFI-format CSV files, ~87,000+ rows, Jan 2022 – May 2026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38912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01_fund_master.csv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 metadata — house, category, plan, expense ratio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02_nav_history.csv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NAV per scheme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~46,000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03_aum_by_fund_house.csv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AUM by fund house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04_monthly_sip_inflows.csv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Industry-wide monthly SIP inflow trends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07_scheme_performance.csv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Returns, risk ratios, expense ratio per scheme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08_investor_transactions.csv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investor transaction records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~32,800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10_benchmark_indices.csv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Nifty50 / Nifty100 index values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3 more source files and live NAV data from the mfapi.in public API for 6 benchmark schemes.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19456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2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Ingest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10 raw CSVs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AMFI codes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40/40 matched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87752" y="3246120"/>
            <a:ext cx="173736" cy="0"/>
          </a:xfrm>
          <a:prstGeom prst="line">
            <a:avLst/>
          </a:prstGeom>
          <a:noFill/>
          <a:ln w="19050">
            <a:solidFill>
              <a:srgbClr val="5B3FA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88920" y="219456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2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880360" y="2331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Clean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880360" y="274320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Forward-fill NAV gaps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text fields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ranges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28032" y="3246120"/>
            <a:ext cx="173736" cy="0"/>
          </a:xfrm>
          <a:prstGeom prst="line">
            <a:avLst/>
          </a:prstGeom>
          <a:noFill/>
          <a:ln w="19050">
            <a:solidFill>
              <a:srgbClr val="5B3FA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0" y="219456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2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20640" y="2331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Build DB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20640" y="274320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star schema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dim + 4 fact tables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bluestock_mf.db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68312" y="3246120"/>
            <a:ext cx="173736" cy="0"/>
          </a:xfrm>
          <a:prstGeom prst="line">
            <a:avLst/>
          </a:prstGeom>
          <a:noFill/>
          <a:ln w="19050">
            <a:solidFill>
              <a:srgbClr val="5B3FA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269480" y="219456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2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60920" y="2331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Analyze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60920" y="274320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SQL queries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notebook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308592" y="3246120"/>
            <a:ext cx="173736" cy="0"/>
          </a:xfrm>
          <a:prstGeom prst="line">
            <a:avLst/>
          </a:prstGeom>
          <a:noFill/>
          <a:ln w="19050">
            <a:solidFill>
              <a:srgbClr val="5B3FA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509760" y="219456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2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01200" y="2331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Visualize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01200" y="274320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pages + drill-through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&amp; tooltips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end-to-end by a single master script: Scripts/run_pipeline.py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5303520"/>
            <a:ext cx="11064240" cy="1051560"/>
          </a:xfrm>
          <a:prstGeom prst="rect">
            <a:avLst/>
          </a:prstGeom>
          <a:solidFill>
            <a:srgbClr val="F2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2960" y="55321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Schema:  dim_fund (40 rows) · dim_date (1,608 rows)  →  fact_nav (64,320) · fact_transactions (32,778) · fact_performance (40) · fact_aum (90)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Highlight: Retail Participation Growth</a:t>
            </a:r>
            <a:endParaRPr lang="en-US" sz="3000" dirty="0"/>
          </a:p>
        </p:txBody>
      </p:sp>
      <p:pic>
        <p:nvPicPr>
          <p:cNvPr id="3" name="Image 0" descr="/home/claude/pptx_build/images/03_sip_inflow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5577840" cy="2788920"/>
          </a:xfrm>
          <a:prstGeom prst="rect">
            <a:avLst/>
          </a:prstGeom>
        </p:spPr>
      </p:pic>
      <p:pic>
        <p:nvPicPr>
          <p:cNvPr id="4" name="Image 1" descr="/home/claude/pptx_build/images/07_folio_grow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554480"/>
            <a:ext cx="5577840" cy="27889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4526280"/>
            <a:ext cx="11292840" cy="1737360"/>
          </a:xfrm>
          <a:prstGeom prst="rect">
            <a:avLst/>
          </a:prstGeom>
          <a:solidFill>
            <a:srgbClr val="F2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777240" y="4663440"/>
            <a:ext cx="106984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inflows grew from ~₹11,500 Cr (Jan 2022) to an all-time high of ₹31,002 Cr (Dec 2025) — a 2.7x increase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investor folios nearly doubled, from 13.26 Cr to 26.12 Cr, crossing 20 Cr in late 2024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metrics show the same inflection point around 2023 — new folios and rising SIP contributions move together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Highlight: Industry Growth &amp; Investor Profile</a:t>
            </a:r>
            <a:endParaRPr lang="en-US" sz="3000" dirty="0"/>
          </a:p>
        </p:txBody>
      </p:sp>
      <p:pic>
        <p:nvPicPr>
          <p:cNvPr id="3" name="Image 0" descr="/home/claude/pptx_build/images/02_aum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6400800" cy="3154680"/>
          </a:xfrm>
          <a:prstGeom prst="rect">
            <a:avLst/>
          </a:prstGeom>
        </p:spPr>
      </p:pic>
      <p:pic>
        <p:nvPicPr>
          <p:cNvPr id="4" name="Image 1" descr="/home/claude/pptx_build/images/05_investor_demograph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783080"/>
            <a:ext cx="4709160" cy="148132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040880" y="3383280"/>
            <a:ext cx="4709160" cy="1325880"/>
          </a:xfrm>
          <a:prstGeom prst="rect">
            <a:avLst/>
          </a:prstGeom>
          <a:solidFill>
            <a:srgbClr val="F2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7269480" y="3520440"/>
            <a:ext cx="4251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26–35 age group leads at 41.1% of investors. Gender split is 66.5% male vs. 33.5% female — a target area for financial inclusion outreach.</a:t>
            </a:r>
            <a:endParaRPr lang="en-US" sz="1250" dirty="0"/>
          </a:p>
        </p:txBody>
      </p:sp>
      <p:sp>
        <p:nvSpPr>
          <p:cNvPr id="7" name="Shape 3"/>
          <p:cNvSpPr/>
          <p:nvPr/>
        </p:nvSpPr>
        <p:spPr>
          <a:xfrm>
            <a:off x="457200" y="4892040"/>
            <a:ext cx="11292840" cy="1371600"/>
          </a:xfrm>
          <a:prstGeom prst="rect">
            <a:avLst/>
          </a:prstGeom>
          <a:solidFill>
            <a:srgbClr val="F2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777240" y="5029200"/>
            <a:ext cx="10652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Mutual Fund leads industry AUM at ₹12.5L Cr (2025), nearly double its 2022 level. Growth is broad-based across all top 10 fund houses, not concentrated in a single player.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Metrics: Fund Scorecard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2852928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Mirae Asset Large Cap — Regular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Pru Midcap — Regular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Kotak Flexicap — Regular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HDFC Mid-Cap Opportunities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Pru Bluechip — Direct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709160"/>
            <a:ext cx="11064240" cy="1508760"/>
          </a:xfrm>
          <a:prstGeom prst="rect">
            <a:avLst/>
          </a:prstGeom>
          <a:solidFill>
            <a:srgbClr val="F2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68680" y="4864608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Mirae Asset Large Cap Fund tops the scorecard with a near-perfect Sharpe score (100/100) and strong return score (97.5/100), delivering consistent, risk-adjusted outperformance rather than just high raw returns.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43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Metrics: Beating the Benchmark</a:t>
            </a:r>
            <a:endParaRPr lang="en-US" sz="3000" dirty="0"/>
          </a:p>
        </p:txBody>
      </p:sp>
      <p:pic>
        <p:nvPicPr>
          <p:cNvPr id="3" name="Image 0" descr="/home/claude/pptx_build/images/benchmark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508760"/>
            <a:ext cx="9601200" cy="4800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BD2BB1-C3CF-040F-7B8D-17744E891937}"/>
              </a:ext>
            </a:extLst>
          </p:cNvPr>
          <p:cNvSpPr txBox="1"/>
          <p:nvPr/>
        </p:nvSpPr>
        <p:spPr>
          <a:xfrm>
            <a:off x="865238" y="452283"/>
            <a:ext cx="737419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Metrics: Advanced Risk Insights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721024-5C60-71D0-7A06-D7D82C45A379}"/>
              </a:ext>
            </a:extLst>
          </p:cNvPr>
          <p:cNvSpPr txBox="1"/>
          <p:nvPr/>
        </p:nvSpPr>
        <p:spPr>
          <a:xfrm>
            <a:off x="845574" y="1799303"/>
            <a:ext cx="75118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Computed Historical </a:t>
            </a:r>
            <a:r>
              <a:rPr lang="en-US" dirty="0" err="1"/>
              <a:t>VaR</a:t>
            </a:r>
            <a:r>
              <a:rPr lang="en-US" dirty="0"/>
              <a:t> &amp; CVaR (95%) across all 40 schemes to quantify single-day downside risk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Rolling 90-day Sharpe ratio shows risk-adjusted return fluctuates meaningfully over time — not a fixed number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 97.8%</a:t>
            </a:r>
            <a:r>
              <a:rPr lang="en-US" dirty="0"/>
              <a:t> of investors with 6+ SIPs flagged "at-risk" of discontinuation (gap &gt; 35 days between contributions)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Sector concentration (HHI) analysis identifies which equity funds are diversified vs. concentrated</a:t>
            </a:r>
          </a:p>
        </p:txBody>
      </p:sp>
    </p:spTree>
    <p:extLst>
      <p:ext uri="{BB962C8B-B14F-4D97-AF65-F5344CB8AC3E}">
        <p14:creationId xmlns:p14="http://schemas.microsoft.com/office/powerpoint/2010/main" val="2220305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Industry Overview &amp; Fund Performance</a:t>
            </a:r>
            <a:endParaRPr lang="en-US" sz="3000" dirty="0"/>
          </a:p>
        </p:txBody>
      </p:sp>
      <p:pic>
        <p:nvPicPr>
          <p:cNvPr id="3" name="Image 0" descr="/home/claude/pptx_build/images/page1_industry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54480"/>
            <a:ext cx="5806440" cy="3566160"/>
          </a:xfrm>
          <a:prstGeom prst="rect">
            <a:avLst/>
          </a:prstGeom>
        </p:spPr>
      </p:pic>
      <p:pic>
        <p:nvPicPr>
          <p:cNvPr id="4" name="Image 1" descr="/home/claude/pptx_build/images/page2_fund_perform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554480"/>
            <a:ext cx="5440680" cy="35661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65760" y="5257800"/>
            <a:ext cx="11384280" cy="1051560"/>
          </a:xfrm>
          <a:prstGeom prst="rect">
            <a:avLst/>
          </a:prstGeom>
          <a:solidFill>
            <a:srgbClr val="F2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685800" y="5394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interactive Power BI dashboard with KPI cards, AUM trends, a return-vs-risk scatter plot, and a sortable fund scorecard — plus drill-through to per-fund NAV detail.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Investor Analytics &amp; SIP Trends</a:t>
            </a:r>
            <a:endParaRPr lang="en-US" sz="3000" dirty="0"/>
          </a:p>
        </p:txBody>
      </p:sp>
      <p:pic>
        <p:nvPicPr>
          <p:cNvPr id="3" name="Image 0" descr="/home/claude/pptx_build/images/page3_investor_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54480"/>
            <a:ext cx="5806440" cy="3566160"/>
          </a:xfrm>
          <a:prstGeom prst="rect">
            <a:avLst/>
          </a:prstGeom>
        </p:spPr>
      </p:pic>
      <p:pic>
        <p:nvPicPr>
          <p:cNvPr id="4" name="Image 1" descr="/home/claude/pptx_build/images/page4_sip_market_tren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554480"/>
            <a:ext cx="5440680" cy="35661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65760" y="5257800"/>
            <a:ext cx="11384280" cy="1051560"/>
          </a:xfrm>
          <a:prstGeom prst="rect">
            <a:avLst/>
          </a:prstGeom>
          <a:solidFill>
            <a:srgbClr val="F2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685800" y="5394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behavior by state, age, and transaction type — plus SIP inflow vs. Nifty50 trends and a category inflow heatmap, all filterable via slicers.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440680" cy="1371600"/>
          </a:xfrm>
          <a:prstGeom prst="rect">
            <a:avLst/>
          </a:prstGeom>
          <a:solidFill>
            <a:srgbClr val="F2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5B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764792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Mutual Fund leads AUM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417320" y="228600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₹12.5L Cr, nearly double its 2022 level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440680" cy="1371600"/>
          </a:xfrm>
          <a:prstGeom prst="rect">
            <a:avLst/>
          </a:prstGeom>
          <a:solidFill>
            <a:srgbClr val="F2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37960" y="1828800"/>
            <a:ext cx="502920" cy="502920"/>
          </a:xfrm>
          <a:prstGeom prst="ellipse">
            <a:avLst/>
          </a:prstGeom>
          <a:solidFill>
            <a:srgbClr val="5B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3796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78040" y="1764792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hit an all-time high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178040" y="228600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₹31,002 Cr in Dec 2025, up 2.7x since 2022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5440680" cy="1371600"/>
          </a:xfrm>
          <a:prstGeom prst="rect">
            <a:avLst/>
          </a:prstGeom>
          <a:solidFill>
            <a:srgbClr val="F2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77240" y="3429000"/>
            <a:ext cx="502920" cy="502920"/>
          </a:xfrm>
          <a:prstGeom prst="ellipse">
            <a:avLst/>
          </a:prstGeom>
          <a:solidFill>
            <a:srgbClr val="5B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3364992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Mirae Asset Large Cap tops the scorecard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417320" y="388620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Score 86.25/100 — best Sharpe + return combo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3200400"/>
            <a:ext cx="5440680" cy="1371600"/>
          </a:xfrm>
          <a:prstGeom prst="rect">
            <a:avLst/>
          </a:prstGeom>
          <a:solidFill>
            <a:srgbClr val="F2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37960" y="3429000"/>
            <a:ext cx="502920" cy="502920"/>
          </a:xfrm>
          <a:prstGeom prst="ellipse">
            <a:avLst/>
          </a:prstGeom>
          <a:solidFill>
            <a:srgbClr val="5B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3796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78040" y="3364992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funds win on risk-adjusted return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178040" y="388620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ratios 5.1–7.7 vs. Small Cap's raw 20–23% returns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800600"/>
            <a:ext cx="5440680" cy="1371600"/>
          </a:xfrm>
          <a:prstGeom prst="rect">
            <a:avLst/>
          </a:prstGeom>
          <a:solidFill>
            <a:srgbClr val="F2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77240" y="5029200"/>
            <a:ext cx="502920" cy="502920"/>
          </a:xfrm>
          <a:prstGeom prst="ellipse">
            <a:avLst/>
          </a:prstGeom>
          <a:solidFill>
            <a:srgbClr val="5B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724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17320" y="4965192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Folios doubled to 26.12 Cr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417320" y="548640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Crossed the 20 Cr milestone in late 2024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4800600"/>
            <a:ext cx="5440680" cy="1371600"/>
          </a:xfrm>
          <a:prstGeom prst="rect">
            <a:avLst/>
          </a:prstGeom>
          <a:solidFill>
            <a:srgbClr val="F2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537960" y="5029200"/>
            <a:ext cx="502920" cy="502920"/>
          </a:xfrm>
          <a:prstGeom prst="ellipse">
            <a:avLst/>
          </a:prstGeom>
          <a:solidFill>
            <a:srgbClr val="5B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3796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178040" y="4965192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gap in SIP participation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178040" y="548640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66.5% male vs. 33.5% female investors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5B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8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5577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Haleema Janna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github.com/haleemajanna/capstone-mutual-fund-analytics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1007</Words>
  <Application>Microsoft Office PowerPoint</Application>
  <PresentationFormat>Custom</PresentationFormat>
  <Paragraphs>178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haleema.janna@gmail.com</cp:lastModifiedBy>
  <cp:revision>2</cp:revision>
  <dcterms:created xsi:type="dcterms:W3CDTF">2026-08-15T15:23:08Z</dcterms:created>
  <dcterms:modified xsi:type="dcterms:W3CDTF">2026-08-16T13:23:21Z</dcterms:modified>
</cp:coreProperties>
</file>